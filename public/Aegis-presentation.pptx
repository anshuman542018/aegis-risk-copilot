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4ca7217592453b" /><Relationship Type="http://schemas.openxmlformats.org/officeDocument/2006/relationships/extended-properties" Target="/docProps/app.xml" Id="R065f919dae6e443c" /><Relationship Type="http://schemas.openxmlformats.org/officeDocument/2006/relationships/officeDocument" Target="/ppt/presentation.xml" Id="R1e0fee2ef81145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79543d17354696"/>
  </p:sldMasterIdLst>
  <p:notesMasterIdLst>
    <p:notesMasterId xmlns:r="http://schemas.openxmlformats.org/officeDocument/2006/relationships" r:id="R7cf0d5f7728d44c0"/>
  </p:notesMasterIdLst>
  <p:sldIdLst>
    <p:sldId xmlns:r="http://schemas.openxmlformats.org/officeDocument/2006/relationships" id="256" r:id="R30d94c9ce4434088"/>
    <p:sldId xmlns:r="http://schemas.openxmlformats.org/officeDocument/2006/relationships" id="257" r:id="R14693aac070f494e"/>
    <p:sldId xmlns:r="http://schemas.openxmlformats.org/officeDocument/2006/relationships" id="258" r:id="Rc3aeadd3fb4740e0"/>
    <p:sldId xmlns:r="http://schemas.openxmlformats.org/officeDocument/2006/relationships" id="259" r:id="Ra36fec5b7ea145a4"/>
    <p:sldId xmlns:r="http://schemas.openxmlformats.org/officeDocument/2006/relationships" id="260" r:id="R78bf449ce3404e81"/>
    <p:sldId xmlns:r="http://schemas.openxmlformats.org/officeDocument/2006/relationships" id="261" r:id="Rd11b0eefb39f40fc"/>
    <p:sldId xmlns:r="http://schemas.openxmlformats.org/officeDocument/2006/relationships" id="262" r:id="R751ea8ed879a4b1f"/>
    <p:sldId xmlns:r="http://schemas.openxmlformats.org/officeDocument/2006/relationships" id="263" r:id="Rb4601cef300a48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3cf824509a4845" /><Relationship Type="http://schemas.openxmlformats.org/officeDocument/2006/relationships/slideMaster" Target="/ppt/slideMasters/slideMaster1.xml" Id="R6779543d17354696" /><Relationship Type="http://schemas.openxmlformats.org/officeDocument/2006/relationships/notesMaster" Target="/ppt/notesMasters/notesMaster1.xml" Id="R7cf0d5f7728d44c0" /><Relationship Type="http://schemas.openxmlformats.org/officeDocument/2006/relationships/presProps" Target="/ppt/presProps.xml" Id="R9720d71d68444acd" /><Relationship Type="http://schemas.openxmlformats.org/officeDocument/2006/relationships/tableStyles" Target="/ppt/tableStyles.xml" Id="R2bd13dd82a0c44c1" /><Relationship Type="http://schemas.openxmlformats.org/officeDocument/2006/relationships/slide" Target="/ppt/slides/slide1.xml" Id="R30d94c9ce4434088" /><Relationship Type="http://schemas.openxmlformats.org/officeDocument/2006/relationships/slide" Target="/ppt/slides/slide2.xml" Id="R14693aac070f494e" /><Relationship Type="http://schemas.openxmlformats.org/officeDocument/2006/relationships/slide" Target="/ppt/slides/slide3.xml" Id="Rc3aeadd3fb4740e0" /><Relationship Type="http://schemas.openxmlformats.org/officeDocument/2006/relationships/slide" Target="/ppt/slides/slide4.xml" Id="Ra36fec5b7ea145a4" /><Relationship Type="http://schemas.openxmlformats.org/officeDocument/2006/relationships/slide" Target="/ppt/slides/slide5.xml" Id="R78bf449ce3404e81" /><Relationship Type="http://schemas.openxmlformats.org/officeDocument/2006/relationships/slide" Target="/ppt/slides/slide6.xml" Id="Rd11b0eefb39f40fc" /><Relationship Type="http://schemas.openxmlformats.org/officeDocument/2006/relationships/slide" Target="/ppt/slides/slide7.xml" Id="R751ea8ed879a4b1f" /><Relationship Type="http://schemas.openxmlformats.org/officeDocument/2006/relationships/slide" Target="/ppt/slides/slide8.xml" Id="Rb4601cef300a48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bce92304f04e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c1657384af4409" /><Relationship Type="http://schemas.openxmlformats.org/officeDocument/2006/relationships/notesMaster" Target="/ppt/notesMasters/notesMaster1.xml" Id="R778a0600af8044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fb91892fb54076" /><Relationship Type="http://schemas.openxmlformats.org/officeDocument/2006/relationships/notesMaster" Target="/ppt/notesMasters/notesMaster1.xml" Id="Rceb02a82e43642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2426bb26474b49" /><Relationship Type="http://schemas.openxmlformats.org/officeDocument/2006/relationships/notesMaster" Target="/ppt/notesMasters/notesMaster1.xml" Id="Rc4246eab41044f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b7aac5bfc346a6" /><Relationship Type="http://schemas.openxmlformats.org/officeDocument/2006/relationships/notesMaster" Target="/ppt/notesMasters/notesMaster1.xml" Id="R444efdb4e5254d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5cc9e4366b4b33" /><Relationship Type="http://schemas.openxmlformats.org/officeDocument/2006/relationships/notesMaster" Target="/ppt/notesMasters/notesMaster1.xml" Id="Rc9f0d9b5cd094a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3ccacd12c0446a" /><Relationship Type="http://schemas.openxmlformats.org/officeDocument/2006/relationships/notesMaster" Target="/ppt/notesMasters/notesMaster1.xml" Id="R52aaf8bbbbdc4c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3bfc9f0fa840be" /><Relationship Type="http://schemas.openxmlformats.org/officeDocument/2006/relationships/notesMaster" Target="/ppt/notesMasters/notesMaster1.xml" Id="Rd6e9e62adeaf4f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5578aed6db43a3" /><Relationship Type="http://schemas.openxmlformats.org/officeDocument/2006/relationships/notesMaster" Target="/ppt/notesMasters/notesMaster1.xml" Id="Re9165fc675bd49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Hackathon challenge: https://hack2skill.com/event/cococlihack-gccedition/</a:t>
            </a:r>
          </a:p>
          <a:p xmlns:a="http://schemas.openxmlformats.org/drawingml/2006/main">
            <a:r>
              <a:t>Author: Anshuman Pandey. All customer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source: Hack2skill Risk, Fraud and Regulatory Intelligence Copilot challenge. No quantified productivity gain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app workflow. Drafts require human review. Hashes detect content changes and do not establish origin.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Derived from deterministic dataset and verified Snowflake queries. Role AEGIS_APP_ROLE has SELECT on named Aegis objects, warehouse usage and Cortex usage. Private key stays server-side. No real customer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scenario validation. Scores: ACC-001 100; ACC-002 55; ACC-003 55; ACC-004 45; ACC-008 40. Snowflake SQL API query ID: 01c77cb6-0104-d2d7-0005-711e000141c2. No population accuracy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LCR = 15m / (20m - 6m); stress = 15m / (24m - 6m). Inflows capped at 75% of outflows. Basel source https://www.bis.org/publ/bcbs238.htm . Asset eligibility and local reporting are not validated. Credit EAD 89,670,000; loss 2,140,748.4 = sum(EAD*PD*LGD). All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AML thresholds are synthetic demonstration rules, not statutory thresholds. Cortex text may need analyst verification. Prototype notes are exported, not persistently stored.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CoCo CLI attempted with installed v0.26.1003. Server refused account eligibility. Official restriction https://docs.snowflake.com/en/user-guide/cortex-code/cortex-code-cli . Dedicated trial https://signup.snowflake.com/cortex-code . Source and dataset available from deployed Data &amp; architecture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223c02c9e44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48473e57364607" /><Relationship Type="http://schemas.openxmlformats.org/officeDocument/2006/relationships/slideLayout" Target="/ppt/slideLayouts/slideLayout1.xml" Id="Ra8d6b244372244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d6b244372244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a4290551a4e48" /><Relationship Type="http://schemas.openxmlformats.org/officeDocument/2006/relationships/notesSlide" Target="/ppt/notesSlides/notesSlide1.xml" Id="Rfc942c2ebbae42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624706e4c4c8a" /><Relationship Type="http://schemas.openxmlformats.org/officeDocument/2006/relationships/notesSlide" Target="/ppt/notesSlides/notesSlide2.xml" Id="R83827cf61dc34f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29789af974830" /><Relationship Type="http://schemas.openxmlformats.org/officeDocument/2006/relationships/notesSlide" Target="/ppt/notesSlides/notesSlide3.xml" Id="R0724f994b76045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28223b19b4389" /><Relationship Type="http://schemas.openxmlformats.org/officeDocument/2006/relationships/notesSlide" Target="/ppt/notesSlides/notesSlide4.xml" Id="Raf96c7ff4b7d40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759bd9e7d4c0e" /><Relationship Type="http://schemas.openxmlformats.org/officeDocument/2006/relationships/chart" Target="/ppt/slides/charts/chart1.xml" Id="R6080d1507da64cfc" /><Relationship Type="http://schemas.openxmlformats.org/officeDocument/2006/relationships/notesSlide" Target="/ppt/notesSlides/notesSlide5.xml" Id="R5f91704429a34d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2d9bdc61948a8" /><Relationship Type="http://schemas.openxmlformats.org/officeDocument/2006/relationships/notesSlide" Target="/ppt/notesSlides/notesSlide6.xml" Id="R03486104b6cd49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5d29691c74c67" /><Relationship Type="http://schemas.openxmlformats.org/officeDocument/2006/relationships/notesSlide" Target="/ppt/notesSlides/notesSlide7.xml" Id="R7ac39dd30a9841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cf87461eb4a97" /><Relationship Type="http://schemas.openxmlformats.org/officeDocument/2006/relationships/notesSlide" Target="/ppt/notesSlides/notesSlide8.xml" Id="R654a69410bde48b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Severity / 100</c:v>
          </c:tx>
          <c:spPr>
            <a:solidFill xmlns:a="http://schemas.openxmlformats.org/drawingml/2006/main">
              <a:srgbClr val="18888B"/>
            </a:solidFill>
          </c:spPr>
          <c:cat>
            <c:numRef>
              <c:f>'Chart Data'!$A$2:$A$6</c:f>
              <c:numCache>
                <c:formatCode>General</c:formatCode>
                <c:ptCount val="5"/>
                <c:pt idx="0">
                  <c:v>001</c:v>
                </c:pt>
                <c:pt idx="1">
                  <c:v>002</c:v>
                </c:pt>
                <c:pt idx="2">
                  <c:v>003</c:v>
                </c:pt>
                <c:pt idx="3">
                  <c:v>004</c:v>
                </c:pt>
                <c:pt idx="4">
                  <c:v>008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100</c:v>
                </c:pt>
                <c:pt idx="1">
                  <c:v>55</c:v>
                </c:pt>
                <c:pt idx="2">
                  <c:v>55</c:v>
                </c:pt>
                <c:pt idx="3">
                  <c:v>45</c:v>
                </c:pt>
                <c:pt idx="4">
                  <c:v>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FE4B2-50E6-4B7B-9B0E-E3225617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AEGIS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D7FE4-0508-459E-BB61-44147C8F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6DBD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A6DBD9"/>
                </a:solidFill>
                <a:latin typeface="Arial"/>
                <a:ea typeface="Arial"/>
                <a:cs typeface="Arial"/>
              </a:rPr>
              <a:t>Risk, Fraud &amp; Regulatory Intelligence Copilot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B2E18-6335-4888-A171-56FEABC4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4775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2E5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2E5E8"/>
                </a:solidFill>
                <a:latin typeface="Arial"/>
                <a:ea typeface="Arial"/>
                <a:cs typeface="Arial"/>
              </a:rPr>
              <a:t>Evidence before escalation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036FE-F177-4718-9EAB-C304DFF9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D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2CDD5"/>
                </a:solidFill>
                <a:latin typeface="Arial"/>
                <a:ea typeface="Arial"/>
                <a:cs typeface="Arial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2487018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A68C3-ED85-400D-9F4E-B708DEDA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A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A45"/>
                </a:solidFill>
                <a:latin typeface="Arial"/>
                <a:ea typeface="Arial"/>
                <a:cs typeface="Arial"/>
              </a:rPr>
              <a:t>The investigation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F25D4-464E-47A2-9B2D-9AED0844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75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Banking and NBFC analysts connect transaction anomalies, account context and policy text manually.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A useful alert needs a reason, source transactions and a documented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Aegis provides that evidence trail alongside credit and liquidity scenarios.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19CD0-5E22-4AB3-9B1F-AFA96052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90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909E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878297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DC181-72D9-4FB6-B0E7-D0803981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A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A45"/>
                </a:solidFill>
                <a:latin typeface="Arial"/>
                <a:ea typeface="Arial"/>
                <a:cs typeface="Arial"/>
              </a:rPr>
              <a:t>Signal → evidence → finding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52AA5-F17B-4011-9A10-87E02441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75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1. Prioritize accounts using transparent severity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2. Inspect payment links, transaction IDs and policy clauses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3. Ask a bounded natural-language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4. Export a finding draft with evidence and a SHA-256 digest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E85CD-82C5-4F95-9F80-8DA63268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90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909E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2107684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C0C55-0E6E-4641-9DD7-AE269B75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A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A45"/>
                </a:solidFill>
                <a:latin typeface="Arial"/>
                <a:ea typeface="Arial"/>
                <a:cs typeface="Arial"/>
              </a:rPr>
              <a:t>Snowflake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37B2D-E5A6-41B5-A5DB-EFB439A8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75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257 transactions · 40 accounts · 30 loans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VARIANT source → typed SQL views → account features → secure fraud signals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Read-only service role + RSA key-pair SQL API authentication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Governed analysis with optional Snowflake Cortex summaries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8E916-B93D-4978-B797-8C05F09E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90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909E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20906993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2D0C2-CF81-4681-B148-8F602E40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A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A45"/>
                </a:solidFill>
                <a:latin typeface="Arial"/>
                <a:ea typeface="Arial"/>
                <a:cs typeface="Arial"/>
              </a:rPr>
              <a:t>Seeded fraud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41326-193C-493A-9D28-00362EC0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334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ACC-001: circular transfers, shared device, payment velocity and possible structuring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Snowflake and application severity scores match for all five seeded review accounts.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Severity measures rule triggers, not fraud probability.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381750" y="1762125"/>
          <a:ext xmlns:a="http://schemas.openxmlformats.org/drawingml/2006/main" cx="51435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80d1507da64cf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5323F-E111-44B6-8AB9-D6F61493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2450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F849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8492"/>
                </a:solidFill>
                <a:latin typeface="Arial"/>
                <a:ea typeface="Arial"/>
                <a:cs typeface="Arial"/>
              </a:rPr>
              <a:t>Synthetic account ID suffix • threshold 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E475E-B461-4F3B-9371-6BB3530D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90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909E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1610089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C3BBD-0298-4D58-8D75-D6583527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A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A45"/>
                </a:solidFill>
                <a:latin typeface="Arial"/>
                <a:ea typeface="Arial"/>
                <a:cs typeface="Arial"/>
              </a:rPr>
              <a:t>Risk scenarios with visible assumptions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12EB4-6032-419F-B4D8-16E5D0A4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75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Baseline illustrative LCR: 107.1%</a:t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20% outflow stress: 83.3% LCR; INR 30 lakh HQLA shortfall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Synthetic credit exposure: INR 8.967 crore</a:t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Baseline modeled expected loss: INR 21.41 lakh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PD and LGD assumptions are inspectable; PD is capped at 100% under stress.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19A0F-3B91-4EBA-B689-2B4E2418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90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909E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</p:spTree>
    <p:extLst>
      <p:ext uri="{BB962C8B-B14F-4D97-AF65-F5344CB8AC3E}">
        <p14:creationId xmlns:p14="http://schemas.microsoft.com/office/powerpoint/2010/main" val="1334234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12877-D189-40CB-9F81-D3D2A9E7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A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A45"/>
                </a:solidFill>
                <a:latin typeface="Arial"/>
                <a:ea typeface="Arial"/>
                <a:cs typeface="Arial"/>
              </a:rPr>
              <a:t>Governance and review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B2D85-A86F-440C-84D1-FDCA404B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75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No real customer or confidential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Natural-language questions never become arbitrary 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Citations point to internal policy IDs and source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No automatic regulatory filing or account restriction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Finding drafts keep the data mode, query ID and analyst note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9CC32-043F-4657-ACD2-706377A8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90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909E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3744075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2FB55-FA62-4900-A696-FFCB3C45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A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A45"/>
                </a:solidFill>
                <a:latin typeface="Arial"/>
                <a:ea typeface="Arial"/>
                <a:cs typeface="Arial"/>
              </a:rPr>
              <a:t>Demo and submission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02D49-7824-4005-A942-C3668875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75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Open the deployed app → Investigate ACC-001 → Export finding</a:t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Ask “LCR under 20% outflow stress” → Inspect POL-06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Included: deployed workspace, complete source, SQL, data license and deck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861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170"/>
                </a:solidFill>
                <a:latin typeface="Arial"/>
                <a:ea typeface="Arial"/>
                <a:cs typeface="Arial"/>
              </a:rPr>
              <a:t>Remaining competition requirement: eligible CoCo CLI account. The current standard trial rejects CoCo; no successful CLI-assisted build is claimed.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D0A8D-2499-4976-BCC6-EBC4F3FA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90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909E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207257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2026-10-03T17:42:40.5980000Z</dcterms:created>
  <dcterms:modified xsi:type="dcterms:W3CDTF">2026-10-03T17:42:40.5980000Z</dcterms:modified>
</coreProperties>
</file>